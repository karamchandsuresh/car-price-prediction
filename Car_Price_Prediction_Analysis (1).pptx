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1610218"/>
            <a:ext cx="4817734" cy="1508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CAR PRICE</a:t>
            </a:r>
            <a:r>
              <a:rPr lang="en-US" sz="3294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
</a:t>
            </a:r>
            <a:r>
              <a:rPr lang="en-US" sz="3294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PREDICTION</a:t>
            </a:r>
            <a:r>
              <a:rPr lang="en-US" sz="3294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
</a:t>
            </a:r>
            <a:r>
              <a:rPr lang="en-US" sz="3294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ANALYSIS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28792" y="4019057"/>
            <a:ext cx="3589093" cy="1114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04" dirty="0">
                <a:solidFill>
                  <a:srgbClr val="8B5C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Submitted By</a:t>
            </a:r>
            <a:r>
              <a:rPr lang="en-US" sz="1704" dirty="0">
                <a:solidFill>
                  <a:srgbClr val="8B5C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
</a:t>
            </a:r>
            <a:r>
              <a:rPr lang="en-US" sz="1704" dirty="0">
                <a:solidFill>
                  <a:srgbClr val="8B5C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Name : Karamchand Suresh</a:t>
            </a:r>
            <a:r>
              <a:rPr lang="en-US" sz="1704" dirty="0">
                <a:solidFill>
                  <a:srgbClr val="8B5C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
</a:t>
            </a:r>
            <a:r>
              <a:rPr lang="en-US" sz="1704" dirty="0">
                <a:solidFill>
                  <a:srgbClr val="8B5C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RegNo : 2511022250004. MCA A</a:t>
            </a:r>
            <a:r>
              <a:rPr lang="en-US" sz="1704" dirty="0">
                <a:solidFill>
                  <a:srgbClr val="8B5C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
</a:t>
            </a:r>
            <a:r>
              <a:rPr lang="en-US" sz="1704" dirty="0">
                <a:solidFill>
                  <a:srgbClr val="8B5C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Alliance University</a:t>
            </a:r>
            <a:endParaRPr lang="en-US" sz="1704" dirty="0"/>
          </a:p>
        </p:txBody>
      </p:sp>
      <p:sp>
        <p:nvSpPr>
          <p:cNvPr id="5" name="Shape 2"/>
          <p:cNvSpPr/>
          <p:nvPr/>
        </p:nvSpPr>
        <p:spPr>
          <a:xfrm>
            <a:off x="5246359" y="-7144"/>
            <a:ext cx="3897641" cy="51435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3"/>
          <p:cNvSpPr/>
          <p:nvPr/>
        </p:nvSpPr>
        <p:spPr>
          <a:xfrm>
            <a:off x="5894597" y="1364456"/>
            <a:ext cx="290647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EC48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 Overview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5807358" y="1764506"/>
            <a:ext cx="2993706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project aims to predict the selling price of used cars based on features such as year, distance driven, fuel type, and transmission.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85548" y="2764631"/>
            <a:ext cx="3015527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Using a dataset of 8,128 car listings, builded and compared multiple machine learning models to identify the most accurate predictor for car prices.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950" y="432197"/>
            <a:ext cx="4300538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PREPROCESSING &amp; FEATURES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571500" y="885825"/>
            <a:ext cx="1144786" cy="280392"/>
          </a:xfrm>
          <a:prstGeom prst="rect">
            <a:avLst/>
          </a:prstGeom>
          <a:noFill/>
          <a:ln/>
        </p:spPr>
        <p:txBody>
          <a:bodyPr wrap="none" lIns="0" tIns="0" rIns="0" bIns="68072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C48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Features</a:t>
            </a:r>
            <a:endParaRPr lang="en-US" sz="1193" dirty="0"/>
          </a:p>
        </p:txBody>
      </p:sp>
      <p:sp>
        <p:nvSpPr>
          <p:cNvPr id="5" name="Text 2"/>
          <p:cNvSpPr/>
          <p:nvPr/>
        </p:nvSpPr>
        <p:spPr>
          <a:xfrm>
            <a:off x="571500" y="1280517"/>
            <a:ext cx="3714750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Temporal:</a:t>
            </a:r>
            <a:r>
              <a:rPr lang="en-US" sz="942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Year of manufacture — depreciation</a:t>
            </a:r>
            <a:endParaRPr lang="en-US" sz="885" dirty="0"/>
          </a:p>
        </p:txBody>
      </p:sp>
      <p:sp>
        <p:nvSpPr>
          <p:cNvPr id="6" name="Text 3"/>
          <p:cNvSpPr/>
          <p:nvPr/>
        </p:nvSpPr>
        <p:spPr>
          <a:xfrm>
            <a:off x="571500" y="1546259"/>
            <a:ext cx="3714750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Usage:</a:t>
            </a:r>
            <a:r>
              <a:rPr lang="en-US" sz="942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Kilometers driven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571500" y="1812001"/>
            <a:ext cx="3714750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Ownership:</a:t>
            </a:r>
            <a:r>
              <a:rPr lang="en-US" sz="942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Fuel type, transmission, owner history</a:t>
            </a:r>
            <a:endParaRPr lang="en-US" sz="885" dirty="0"/>
          </a:p>
        </p:txBody>
      </p:sp>
      <p:sp>
        <p:nvSpPr>
          <p:cNvPr id="8" name="Text 5"/>
          <p:cNvSpPr/>
          <p:nvPr/>
        </p:nvSpPr>
        <p:spPr>
          <a:xfrm>
            <a:off x="571500" y="2077743"/>
            <a:ext cx="3714750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Technical:</a:t>
            </a:r>
            <a:r>
              <a:rPr lang="en-US" sz="942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Mileage, engine capacity, max power</a:t>
            </a:r>
            <a:endParaRPr lang="en-US" sz="885" dirty="0"/>
          </a:p>
        </p:txBody>
      </p:sp>
      <p:sp>
        <p:nvSpPr>
          <p:cNvPr id="9" name="Text 6"/>
          <p:cNvSpPr/>
          <p:nvPr/>
        </p:nvSpPr>
        <p:spPr>
          <a:xfrm>
            <a:off x="4672013" y="885825"/>
            <a:ext cx="1509117" cy="280392"/>
          </a:xfrm>
          <a:prstGeom prst="rect">
            <a:avLst/>
          </a:prstGeom>
          <a:noFill/>
          <a:ln/>
        </p:spPr>
        <p:txBody>
          <a:bodyPr wrap="none" lIns="0" tIns="0" rIns="0" bIns="68072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C48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Processing Steps</a:t>
            </a:r>
            <a:endParaRPr lang="en-US" sz="1193" dirty="0"/>
          </a:p>
        </p:txBody>
      </p:sp>
      <p:sp>
        <p:nvSpPr>
          <p:cNvPr id="10" name="Text 7"/>
          <p:cNvSpPr/>
          <p:nvPr/>
        </p:nvSpPr>
        <p:spPr>
          <a:xfrm>
            <a:off x="4672013" y="1280517"/>
            <a:ext cx="3714750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Cleaning:</a:t>
            </a:r>
            <a:r>
              <a:rPr lang="en-US" sz="942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Fixed missing technical specs</a:t>
            </a:r>
            <a:endParaRPr lang="en-US" sz="885" dirty="0"/>
          </a:p>
        </p:txBody>
      </p:sp>
      <p:sp>
        <p:nvSpPr>
          <p:cNvPr id="11" name="Text 8"/>
          <p:cNvSpPr/>
          <p:nvPr/>
        </p:nvSpPr>
        <p:spPr>
          <a:xfrm>
            <a:off x="4672013" y="1546259"/>
            <a:ext cx="3714750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Feature Eng:</a:t>
            </a:r>
            <a:r>
              <a:rPr lang="en-US" sz="942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Extracted numbers from strings (e.g., "74 bhp" → 74)</a:t>
            </a:r>
            <a:endParaRPr lang="en-US" sz="885" dirty="0"/>
          </a:p>
        </p:txBody>
      </p:sp>
      <p:sp>
        <p:nvSpPr>
          <p:cNvPr id="12" name="Text 9"/>
          <p:cNvSpPr/>
          <p:nvPr/>
        </p:nvSpPr>
        <p:spPr>
          <a:xfrm>
            <a:off x="4672013" y="1812001"/>
            <a:ext cx="3714750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Encoding:</a:t>
            </a:r>
            <a:r>
              <a:rPr lang="en-US" sz="942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Label Encoding for categoricals</a:t>
            </a:r>
            <a:endParaRPr lang="en-US" sz="885" dirty="0"/>
          </a:p>
        </p:txBody>
      </p:sp>
      <p:sp>
        <p:nvSpPr>
          <p:cNvPr id="13" name="Text 10"/>
          <p:cNvSpPr/>
          <p:nvPr/>
        </p:nvSpPr>
        <p:spPr>
          <a:xfrm>
            <a:off x="4672013" y="2077743"/>
            <a:ext cx="3714750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Scaling:</a:t>
            </a:r>
            <a:r>
              <a:rPr lang="en-US" sz="942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Standardized numericals for models</a:t>
            </a:r>
            <a:endParaRPr lang="en-US" sz="885" dirty="0"/>
          </a:p>
        </p:txBody>
      </p:sp>
      <p:sp>
        <p:nvSpPr>
          <p:cNvPr id="14" name="Shape 11"/>
          <p:cNvSpPr/>
          <p:nvPr/>
        </p:nvSpPr>
        <p:spPr>
          <a:xfrm>
            <a:off x="4672013" y="2343485"/>
            <a:ext cx="3900488" cy="310753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Shape 12"/>
          <p:cNvSpPr/>
          <p:nvPr/>
        </p:nvSpPr>
        <p:spPr>
          <a:xfrm>
            <a:off x="4672013" y="2343485"/>
            <a:ext cx="28575" cy="310753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6" name="Text 13"/>
          <p:cNvSpPr/>
          <p:nvPr/>
        </p:nvSpPr>
        <p:spPr>
          <a:xfrm>
            <a:off x="4672013" y="2343485"/>
            <a:ext cx="3900488" cy="31075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Note:</a:t>
            </a:r>
            <a:r>
              <a:rPr lang="en-US" sz="834" dirty="0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Units removed from technical specs for numeric analysis.</a:t>
            </a:r>
            <a:endParaRPr lang="en-US" sz="834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1525" y="432197"/>
            <a:ext cx="4943475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MACHINE LEARNING MODELS OVERVIEW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714375" y="900113"/>
            <a:ext cx="1718072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LINEAR REGRESSION</a:t>
            </a:r>
            <a:endParaRPr lang="en-US" sz="1090" dirty="0"/>
          </a:p>
        </p:txBody>
      </p:sp>
      <p:sp>
        <p:nvSpPr>
          <p:cNvPr id="5" name="Text 2"/>
          <p:cNvSpPr/>
          <p:nvPr/>
        </p:nvSpPr>
        <p:spPr>
          <a:xfrm>
            <a:off x="571500" y="1148358"/>
            <a:ext cx="3829050" cy="360034"/>
          </a:xfrm>
          <a:prstGeom prst="rect">
            <a:avLst/>
          </a:prstGeom>
          <a:noFill/>
          <a:ln/>
        </p:spPr>
        <p:txBody>
          <a:bodyPr wrap="square" lIns="136017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Baseline model that fits a linear relationship between features and the continuous target.</a:t>
            </a:r>
            <a:endParaRPr lang="en-US" sz="942" dirty="0"/>
          </a:p>
        </p:txBody>
      </p:sp>
      <p:sp>
        <p:nvSpPr>
          <p:cNvPr id="6" name="Text 3"/>
          <p:cNvSpPr/>
          <p:nvPr/>
        </p:nvSpPr>
        <p:spPr>
          <a:xfrm>
            <a:off x="571500" y="1679842"/>
            <a:ext cx="1230511" cy="121444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8B5C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#Baseline #Statistical</a:t>
            </a:r>
            <a:endParaRPr lang="en-US" sz="683" dirty="0"/>
          </a:p>
        </p:txBody>
      </p:sp>
      <p:sp>
        <p:nvSpPr>
          <p:cNvPr id="7" name="Text 4"/>
          <p:cNvSpPr/>
          <p:nvPr/>
        </p:nvSpPr>
        <p:spPr>
          <a:xfrm>
            <a:off x="4786313" y="900113"/>
            <a:ext cx="1650206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LASSO REGRESSION</a:t>
            </a:r>
            <a:endParaRPr lang="en-US" sz="1090" dirty="0"/>
          </a:p>
        </p:txBody>
      </p:sp>
      <p:sp>
        <p:nvSpPr>
          <p:cNvPr id="8" name="Text 5"/>
          <p:cNvSpPr/>
          <p:nvPr/>
        </p:nvSpPr>
        <p:spPr>
          <a:xfrm>
            <a:off x="4643438" y="1148358"/>
            <a:ext cx="3829050" cy="360034"/>
          </a:xfrm>
          <a:prstGeom prst="rect">
            <a:avLst/>
          </a:prstGeom>
          <a:noFill/>
          <a:ln/>
        </p:spPr>
        <p:txBody>
          <a:bodyPr wrap="square" lIns="136017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Linear model with L1 regularization for feature selection and reduced overfitting.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4643438" y="1679842"/>
            <a:ext cx="1130498" cy="121444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8B5C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#Regularization #L1</a:t>
            </a:r>
            <a:endParaRPr lang="en-US" sz="683" dirty="0"/>
          </a:p>
        </p:txBody>
      </p:sp>
      <p:sp>
        <p:nvSpPr>
          <p:cNvPr id="10" name="Text 7"/>
          <p:cNvSpPr/>
          <p:nvPr/>
        </p:nvSpPr>
        <p:spPr>
          <a:xfrm>
            <a:off x="714375" y="1990595"/>
            <a:ext cx="1455539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RANDOM FOREST</a:t>
            </a:r>
            <a:endParaRPr lang="en-US" sz="1090" dirty="0"/>
          </a:p>
        </p:txBody>
      </p:sp>
      <p:sp>
        <p:nvSpPr>
          <p:cNvPr id="11" name="Text 8"/>
          <p:cNvSpPr/>
          <p:nvPr/>
        </p:nvSpPr>
        <p:spPr>
          <a:xfrm>
            <a:off x="571500" y="2238840"/>
            <a:ext cx="3829050" cy="360034"/>
          </a:xfrm>
          <a:prstGeom prst="rect">
            <a:avLst/>
          </a:prstGeom>
          <a:noFill/>
          <a:ln/>
        </p:spPr>
        <p:txBody>
          <a:bodyPr wrap="square" lIns="136017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Ensemble of decision trees that improves accuracy and stability via bagging.</a:t>
            </a:r>
            <a:endParaRPr lang="en-US" sz="942" dirty="0"/>
          </a:p>
        </p:txBody>
      </p:sp>
      <p:sp>
        <p:nvSpPr>
          <p:cNvPr id="12" name="Text 9"/>
          <p:cNvSpPr/>
          <p:nvPr/>
        </p:nvSpPr>
        <p:spPr>
          <a:xfrm>
            <a:off x="571500" y="2770324"/>
            <a:ext cx="1241227" cy="121444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8B5C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#Ensemble #Bagging</a:t>
            </a:r>
            <a:endParaRPr lang="en-US" sz="683" dirty="0"/>
          </a:p>
        </p:txBody>
      </p:sp>
      <p:sp>
        <p:nvSpPr>
          <p:cNvPr id="13" name="Text 10"/>
          <p:cNvSpPr/>
          <p:nvPr/>
        </p:nvSpPr>
        <p:spPr>
          <a:xfrm>
            <a:off x="4786313" y="1990595"/>
            <a:ext cx="801886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XGBOOST</a:t>
            </a:r>
            <a:endParaRPr lang="en-US" sz="1090" dirty="0"/>
          </a:p>
        </p:txBody>
      </p:sp>
      <p:sp>
        <p:nvSpPr>
          <p:cNvPr id="14" name="Text 11"/>
          <p:cNvSpPr/>
          <p:nvPr/>
        </p:nvSpPr>
        <p:spPr>
          <a:xfrm>
            <a:off x="4643438" y="2238840"/>
            <a:ext cx="3829050" cy="360034"/>
          </a:xfrm>
          <a:prstGeom prst="rect">
            <a:avLst/>
          </a:prstGeom>
          <a:noFill/>
          <a:ln/>
        </p:spPr>
        <p:txBody>
          <a:bodyPr wrap="square" lIns="136017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Fast gradient boosting framework that captures complex patterns with high performance.</a:t>
            </a:r>
            <a:endParaRPr lang="en-US" sz="942" dirty="0"/>
          </a:p>
        </p:txBody>
      </p:sp>
      <p:sp>
        <p:nvSpPr>
          <p:cNvPr id="15" name="Text 12"/>
          <p:cNvSpPr/>
          <p:nvPr/>
        </p:nvSpPr>
        <p:spPr>
          <a:xfrm>
            <a:off x="4643438" y="2770324"/>
            <a:ext cx="1673423" cy="121444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8B5C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#Boosting #HighPerformance</a:t>
            </a:r>
            <a:endParaRPr lang="en-US" sz="683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1525" y="432197"/>
            <a:ext cx="4704159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 PERFORMANCE COMPARISONS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571500" y="857250"/>
            <a:ext cx="5143500" cy="169306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585788" y="857250"/>
            <a:ext cx="2324956" cy="3500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3"/>
          <p:cNvSpPr/>
          <p:nvPr/>
        </p:nvSpPr>
        <p:spPr>
          <a:xfrm>
            <a:off x="585788" y="857250"/>
            <a:ext cx="2324956" cy="350044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</a:t>
            </a:r>
            <a:endParaRPr lang="en-US" sz="683" dirty="0"/>
          </a:p>
        </p:txBody>
      </p:sp>
      <p:sp>
        <p:nvSpPr>
          <p:cNvPr id="7" name="Shape 4"/>
          <p:cNvSpPr/>
          <p:nvPr/>
        </p:nvSpPr>
        <p:spPr>
          <a:xfrm>
            <a:off x="2910743" y="857250"/>
            <a:ext cx="1278006" cy="3500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5"/>
          <p:cNvSpPr/>
          <p:nvPr/>
        </p:nvSpPr>
        <p:spPr>
          <a:xfrm>
            <a:off x="2910743" y="857250"/>
            <a:ext cx="1278006" cy="350044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R2 SCORE</a:t>
            </a:r>
            <a:endParaRPr lang="en-US" sz="683" dirty="0"/>
          </a:p>
        </p:txBody>
      </p:sp>
      <p:sp>
        <p:nvSpPr>
          <p:cNvPr id="9" name="Shape 6"/>
          <p:cNvSpPr/>
          <p:nvPr/>
        </p:nvSpPr>
        <p:spPr>
          <a:xfrm>
            <a:off x="4188749" y="857250"/>
            <a:ext cx="1526251" cy="3500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Text 7"/>
          <p:cNvSpPr/>
          <p:nvPr/>
        </p:nvSpPr>
        <p:spPr>
          <a:xfrm>
            <a:off x="4188749" y="857250"/>
            <a:ext cx="1526251" cy="350044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MAE (PRICE)</a:t>
            </a:r>
            <a:endParaRPr lang="en-US" sz="683" dirty="0"/>
          </a:p>
        </p:txBody>
      </p:sp>
      <p:sp>
        <p:nvSpPr>
          <p:cNvPr id="11" name="Shape 8"/>
          <p:cNvSpPr/>
          <p:nvPr/>
        </p:nvSpPr>
        <p:spPr>
          <a:xfrm>
            <a:off x="585788" y="1207294"/>
            <a:ext cx="5129213" cy="332184"/>
          </a:xfrm>
          <a:prstGeom prst="rect">
            <a:avLst/>
          </a:prstGeom>
          <a:solidFill>
            <a:srgbClr val="8B5CF6">
              <a:alpha val="5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585788" y="1207294"/>
            <a:ext cx="2324956" cy="33218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XGBoost Regressor</a:t>
            </a:r>
            <a:endParaRPr lang="en-US" sz="885" dirty="0"/>
          </a:p>
        </p:txBody>
      </p:sp>
      <p:sp>
        <p:nvSpPr>
          <p:cNvPr id="13" name="Text 10"/>
          <p:cNvSpPr/>
          <p:nvPr/>
        </p:nvSpPr>
        <p:spPr>
          <a:xfrm>
            <a:off x="2910743" y="1207294"/>
            <a:ext cx="1278006" cy="33218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0.9202</a:t>
            </a:r>
            <a:endParaRPr lang="en-US" sz="942" dirty="0"/>
          </a:p>
        </p:txBody>
      </p:sp>
      <p:sp>
        <p:nvSpPr>
          <p:cNvPr id="14" name="Text 11"/>
          <p:cNvSpPr/>
          <p:nvPr/>
        </p:nvSpPr>
        <p:spPr>
          <a:xfrm>
            <a:off x="4188749" y="1207294"/>
            <a:ext cx="1526251" cy="33218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77,942</a:t>
            </a:r>
            <a:endParaRPr lang="en-US" sz="942" dirty="0"/>
          </a:p>
        </p:txBody>
      </p:sp>
      <p:sp>
        <p:nvSpPr>
          <p:cNvPr id="15" name="Text 12"/>
          <p:cNvSpPr/>
          <p:nvPr/>
        </p:nvSpPr>
        <p:spPr>
          <a:xfrm>
            <a:off x="585788" y="1539478"/>
            <a:ext cx="2324956" cy="335756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Random Forest</a:t>
            </a:r>
            <a:endParaRPr lang="en-US" sz="942" dirty="0"/>
          </a:p>
        </p:txBody>
      </p:sp>
      <p:sp>
        <p:nvSpPr>
          <p:cNvPr id="16" name="Text 13"/>
          <p:cNvSpPr/>
          <p:nvPr/>
        </p:nvSpPr>
        <p:spPr>
          <a:xfrm>
            <a:off x="2910743" y="1539478"/>
            <a:ext cx="1278006" cy="335756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0.9189</a:t>
            </a:r>
            <a:endParaRPr lang="en-US" sz="942" dirty="0"/>
          </a:p>
        </p:txBody>
      </p:sp>
      <p:sp>
        <p:nvSpPr>
          <p:cNvPr id="17" name="Text 14"/>
          <p:cNvSpPr/>
          <p:nvPr/>
        </p:nvSpPr>
        <p:spPr>
          <a:xfrm>
            <a:off x="4188749" y="1539478"/>
            <a:ext cx="1526251" cy="335756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77,714</a:t>
            </a:r>
            <a:endParaRPr lang="en-US" sz="942" dirty="0"/>
          </a:p>
        </p:txBody>
      </p:sp>
      <p:sp>
        <p:nvSpPr>
          <p:cNvPr id="18" name="Text 15"/>
          <p:cNvSpPr/>
          <p:nvPr/>
        </p:nvSpPr>
        <p:spPr>
          <a:xfrm>
            <a:off x="585788" y="1875234"/>
            <a:ext cx="2324956" cy="335756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Linear Regression</a:t>
            </a:r>
            <a:endParaRPr lang="en-US" sz="942" dirty="0"/>
          </a:p>
        </p:txBody>
      </p:sp>
      <p:sp>
        <p:nvSpPr>
          <p:cNvPr id="19" name="Text 16"/>
          <p:cNvSpPr/>
          <p:nvPr/>
        </p:nvSpPr>
        <p:spPr>
          <a:xfrm>
            <a:off x="2910743" y="1875234"/>
            <a:ext cx="1278006" cy="335756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0.6558</a:t>
            </a:r>
            <a:endParaRPr lang="en-US" sz="942" dirty="0"/>
          </a:p>
        </p:txBody>
      </p:sp>
      <p:sp>
        <p:nvSpPr>
          <p:cNvPr id="20" name="Text 17"/>
          <p:cNvSpPr/>
          <p:nvPr/>
        </p:nvSpPr>
        <p:spPr>
          <a:xfrm>
            <a:off x="4188749" y="1875234"/>
            <a:ext cx="1526251" cy="335756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171,881</a:t>
            </a:r>
            <a:endParaRPr lang="en-US" sz="942" dirty="0"/>
          </a:p>
        </p:txBody>
      </p:sp>
      <p:sp>
        <p:nvSpPr>
          <p:cNvPr id="21" name="Text 18"/>
          <p:cNvSpPr/>
          <p:nvPr/>
        </p:nvSpPr>
        <p:spPr>
          <a:xfrm>
            <a:off x="585788" y="2210991"/>
            <a:ext cx="2324956" cy="335756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Lasso Regression</a:t>
            </a:r>
            <a:endParaRPr lang="en-US" sz="942" dirty="0"/>
          </a:p>
        </p:txBody>
      </p:sp>
      <p:sp>
        <p:nvSpPr>
          <p:cNvPr id="22" name="Text 19"/>
          <p:cNvSpPr/>
          <p:nvPr/>
        </p:nvSpPr>
        <p:spPr>
          <a:xfrm>
            <a:off x="2910743" y="2210991"/>
            <a:ext cx="1278006" cy="335756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0.6558</a:t>
            </a:r>
            <a:endParaRPr lang="en-US" sz="942" dirty="0"/>
          </a:p>
        </p:txBody>
      </p:sp>
      <p:sp>
        <p:nvSpPr>
          <p:cNvPr id="23" name="Text 20"/>
          <p:cNvSpPr/>
          <p:nvPr/>
        </p:nvSpPr>
        <p:spPr>
          <a:xfrm>
            <a:off x="4188749" y="2210991"/>
            <a:ext cx="1526251" cy="335756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171,881</a:t>
            </a:r>
            <a:endParaRPr lang="en-US" sz="942" dirty="0"/>
          </a:p>
        </p:txBody>
      </p:sp>
      <p:sp>
        <p:nvSpPr>
          <p:cNvPr id="24" name="Text 21"/>
          <p:cNvSpPr/>
          <p:nvPr/>
        </p:nvSpPr>
        <p:spPr>
          <a:xfrm>
            <a:off x="6000750" y="928688"/>
            <a:ext cx="2571750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EC48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Insights</a:t>
            </a:r>
            <a:endParaRPr lang="en-US" sz="987" dirty="0"/>
          </a:p>
        </p:txBody>
      </p:sp>
      <p:sp>
        <p:nvSpPr>
          <p:cNvPr id="25" name="Text 22"/>
          <p:cNvSpPr/>
          <p:nvPr/>
        </p:nvSpPr>
        <p:spPr>
          <a:xfrm>
            <a:off x="6000750" y="1187648"/>
            <a:ext cx="2571750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ensemble models, </a:t>
            </a:r>
            <a:r>
              <a:rPr lang="en-US" sz="784" b="1" dirty="0">
                <a:solidFill>
                  <a:srgbClr val="8B5C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XGBoost</a:t>
            </a:r>
            <a:r>
              <a:rPr lang="en-US" sz="834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and </a:t>
            </a:r>
            <a:r>
              <a:rPr lang="en-US" sz="784" b="1" dirty="0">
                <a:solidFill>
                  <a:srgbClr val="8B5C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Random Forest</a:t>
            </a:r>
            <a:r>
              <a:rPr lang="en-US" sz="834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significantly outperform the </a:t>
            </a:r>
            <a:r>
              <a:rPr lang="en-US" sz="834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linear baselines.</a:t>
            </a:r>
            <a:endParaRPr lang="en-US" sz="834" dirty="0"/>
          </a:p>
        </p:txBody>
      </p:sp>
      <p:sp>
        <p:nvSpPr>
          <p:cNvPr id="26" name="Text 23"/>
          <p:cNvSpPr/>
          <p:nvPr/>
        </p:nvSpPr>
        <p:spPr>
          <a:xfrm>
            <a:off x="6000750" y="1821963"/>
            <a:ext cx="2571750" cy="731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With an R2 score of </a:t>
            </a:r>
            <a:r>
              <a:rPr lang="en-US" sz="784" b="1" dirty="0">
                <a:solidFill>
                  <a:srgbClr val="8B5C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0.92</a:t>
            </a:r>
            <a:r>
              <a:rPr lang="en-US" sz="834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the top models </a:t>
            </a:r>
            <a:r>
              <a:rPr lang="en-US" sz="834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explain nearly all variance in car pricing, </a:t>
            </a:r>
            <a:r>
              <a:rPr lang="en-US" sz="834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reducing error by over </a:t>
            </a:r>
            <a:r>
              <a:rPr lang="en-US" sz="784" b="1" dirty="0">
                <a:solidFill>
                  <a:srgbClr val="8B5C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50%</a:t>
            </a:r>
            <a:r>
              <a:rPr lang="en-US" sz="834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compared to </a:t>
            </a:r>
            <a:r>
              <a:rPr lang="en-US" sz="834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Linear Regression.</a:t>
            </a:r>
            <a:endParaRPr lang="en-US" sz="834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1295000"/>
            <a:ext cx="4551211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spc="2" kern="0" dirty="0">
                <a:solidFill>
                  <a:srgbClr val="8B5C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TOP PERFORMER</a:t>
            </a:r>
            <a:endParaRPr lang="en-US" sz="1193" dirty="0"/>
          </a:p>
        </p:txBody>
      </p:sp>
      <p:sp>
        <p:nvSpPr>
          <p:cNvPr id="4" name="Text 1"/>
          <p:cNvSpPr/>
          <p:nvPr/>
        </p:nvSpPr>
        <p:spPr>
          <a:xfrm>
            <a:off x="342900" y="2075455"/>
            <a:ext cx="4551211" cy="8800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62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XGBOOST</a:t>
            </a:r>
            <a:r>
              <a:rPr lang="en-US" sz="2862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
</a:t>
            </a:r>
            <a:r>
              <a:rPr lang="en-US" sz="2862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REGRESSOR</a:t>
            </a:r>
            <a:endParaRPr lang="en-US" sz="2862" dirty="0"/>
          </a:p>
        </p:txBody>
      </p:sp>
      <p:sp>
        <p:nvSpPr>
          <p:cNvPr id="5" name="Text 2"/>
          <p:cNvSpPr/>
          <p:nvPr/>
        </p:nvSpPr>
        <p:spPr>
          <a:xfrm>
            <a:off x="342900" y="3012681"/>
            <a:ext cx="4551211" cy="6268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900"/>
              </a:lnSpc>
              <a:buNone/>
            </a:pPr>
            <a:r>
              <a:rPr lang="en-US" sz="3731" b="1" dirty="0">
                <a:solidFill>
                  <a:srgbClr val="EC48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0.9202</a:t>
            </a:r>
            <a:endParaRPr lang="en-US" sz="3731" dirty="0"/>
          </a:p>
        </p:txBody>
      </p:sp>
      <p:sp>
        <p:nvSpPr>
          <p:cNvPr id="6" name="Text 3"/>
          <p:cNvSpPr/>
          <p:nvPr/>
        </p:nvSpPr>
        <p:spPr>
          <a:xfrm>
            <a:off x="342900" y="3639545"/>
            <a:ext cx="4551211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R2 Score (Accuracy)</a:t>
            </a:r>
            <a:endParaRPr lang="en-US" sz="1269" dirty="0"/>
          </a:p>
        </p:txBody>
      </p:sp>
      <p:sp>
        <p:nvSpPr>
          <p:cNvPr id="7" name="Shape 4"/>
          <p:cNvSpPr/>
          <p:nvPr/>
        </p:nvSpPr>
        <p:spPr>
          <a:xfrm>
            <a:off x="4894111" y="0"/>
            <a:ext cx="4249889" cy="51435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5"/>
          <p:cNvSpPr/>
          <p:nvPr/>
        </p:nvSpPr>
        <p:spPr>
          <a:xfrm>
            <a:off x="5733388" y="228600"/>
            <a:ext cx="3182010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8B5C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it outperformed: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5571177" y="609005"/>
            <a:ext cx="1379246" cy="1350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Non-linear Complexity:</a:t>
            </a:r>
            <a:r>
              <a:rPr lang="en-US" sz="1050" dirty="0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Effectively captures </a:t>
            </a:r>
            <a:r>
              <a:rPr lang="en-US" sz="1050" dirty="0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intricate </a:t>
            </a:r>
            <a:r>
              <a:rPr lang="en-US" sz="1050" dirty="0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relationships </a:t>
            </a:r>
            <a:r>
              <a:rPr lang="en-US" sz="1050" dirty="0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between technical </a:t>
            </a:r>
            <a:r>
              <a:rPr lang="en-US" sz="1050" dirty="0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specs and price.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509865" y="609005"/>
            <a:ext cx="1408407" cy="1157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Robustness:</a:t>
            </a:r>
            <a:r>
              <a:rPr lang="en-US" sz="1050" dirty="0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Superior handling </a:t>
            </a:r>
            <a:r>
              <a:rPr lang="en-US" sz="1050" dirty="0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of outliers and </a:t>
            </a:r>
            <a:r>
              <a:rPr lang="en-US" sz="1050" dirty="0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missing data </a:t>
            </a:r>
            <a:r>
              <a:rPr lang="en-US" sz="1050" dirty="0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compared to linear </a:t>
            </a:r>
            <a:r>
              <a:rPr lang="en-US" sz="1050" dirty="0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models.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474066" y="2226648"/>
            <a:ext cx="1553738" cy="9644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Ensemble Power:</a:t>
            </a:r>
            <a:r>
              <a:rPr lang="en-US" sz="1050" dirty="0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Gradient boosting </a:t>
            </a:r>
            <a:r>
              <a:rPr lang="en-US" sz="1050" dirty="0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minimizes errors </a:t>
            </a:r>
            <a:r>
              <a:rPr lang="en-US" sz="1050" dirty="0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iteratively for </a:t>
            </a:r>
            <a:r>
              <a:rPr lang="en-US" sz="1050" dirty="0">
                <a:solidFill>
                  <a:srgbClr val="F1F5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maximum precision.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2026-04-08T11:34:04Z</dcterms:created>
  <dcterms:modified xsi:type="dcterms:W3CDTF">2026-04-08T11:34:04Z</dcterms:modified>
</cp:coreProperties>
</file>